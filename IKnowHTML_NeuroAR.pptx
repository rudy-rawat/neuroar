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50" b="1" i="0">
                <a:solidFill>
                  <a:srgbClr val="E6E7E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50" b="1" i="0">
                <a:solidFill>
                  <a:srgbClr val="E6E7E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50" b="1" i="0">
                <a:solidFill>
                  <a:srgbClr val="E6E7E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50" b="1" i="0">
                <a:solidFill>
                  <a:srgbClr val="E6E7E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100" cy="161026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347457" y="1016464"/>
            <a:ext cx="20745" cy="2074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185822" y="1095949"/>
            <a:ext cx="101443" cy="8167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383072" y="1131478"/>
            <a:ext cx="28607" cy="2860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294529" y="975727"/>
            <a:ext cx="39161" cy="39161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121436" y="1097775"/>
            <a:ext cx="37534" cy="3753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052809" y="1142832"/>
            <a:ext cx="28614" cy="2860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290383" y="1040222"/>
            <a:ext cx="29864" cy="2987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336843" y="916880"/>
            <a:ext cx="26965" cy="26965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189149" y="1212139"/>
            <a:ext cx="46320" cy="4632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825654" y="678607"/>
            <a:ext cx="202129" cy="213081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16055793" y="678603"/>
            <a:ext cx="41275" cy="213360"/>
          </a:xfrm>
          <a:custGeom>
            <a:avLst/>
            <a:gdLst/>
            <a:ahLst/>
            <a:cxnLst/>
            <a:rect l="l" t="t" r="r" b="b"/>
            <a:pathLst>
              <a:path w="41275" h="213359">
                <a:moveTo>
                  <a:pt x="41091" y="0"/>
                </a:moveTo>
                <a:lnTo>
                  <a:pt x="0" y="0"/>
                </a:lnTo>
                <a:lnTo>
                  <a:pt x="0" y="213084"/>
                </a:lnTo>
                <a:lnTo>
                  <a:pt x="41091" y="213084"/>
                </a:lnTo>
                <a:lnTo>
                  <a:pt x="410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071" y="333514"/>
            <a:ext cx="2856865" cy="842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50" b="1" i="0">
                <a:solidFill>
                  <a:srgbClr val="E6E7E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2728" y="2017183"/>
            <a:ext cx="15107919" cy="6223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35" dirty="0"/>
              <a:t>UNLOCKE</a:t>
            </a:r>
            <a:r>
              <a:rPr spc="-1195"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0012" y="500377"/>
            <a:ext cx="1904364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Microsoft</a:t>
            </a:r>
            <a:endParaRPr sz="345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8729" y="502273"/>
            <a:ext cx="548005" cy="545465"/>
            <a:chOff x="478729" y="502273"/>
            <a:chExt cx="548005" cy="545465"/>
          </a:xfrm>
        </p:grpSpPr>
        <p:sp>
          <p:nvSpPr>
            <p:cNvPr id="5" name="object 5"/>
            <p:cNvSpPr/>
            <p:nvPr/>
          </p:nvSpPr>
          <p:spPr>
            <a:xfrm>
              <a:off x="478729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75" y="256059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F051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0127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7FB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8729" y="791132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75"/>
                  </a:lnTo>
                  <a:lnTo>
                    <a:pt x="256075" y="256075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33A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127" y="791148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FDB8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12728" y="2017183"/>
            <a:ext cx="18926207" cy="716285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63600" algn="ctr">
              <a:lnSpc>
                <a:spcPct val="100000"/>
              </a:lnSpc>
              <a:spcBef>
                <a:spcPts val="114"/>
              </a:spcBef>
            </a:pPr>
            <a:endParaRPr lang="en-US" sz="3400" b="1" dirty="0">
              <a:latin typeface="Segoe UI"/>
              <a:cs typeface="Segoe UI"/>
            </a:endParaRPr>
          </a:p>
          <a:p>
            <a:pPr marL="863600" algn="ctr">
              <a:lnSpc>
                <a:spcPct val="100000"/>
              </a:lnSpc>
              <a:spcBef>
                <a:spcPts val="114"/>
              </a:spcBef>
            </a:pPr>
            <a:r>
              <a:rPr sz="4400" b="1" dirty="0">
                <a:latin typeface="Aptos" panose="020B0004020202020204" pitchFamily="34" charset="0"/>
                <a:cs typeface="Segoe UI Semibold" panose="020B0702040204020203" pitchFamily="34" charset="0"/>
              </a:rPr>
              <a:t>Problem Statement &amp; Context</a:t>
            </a:r>
          </a:p>
          <a:p>
            <a:pPr marL="863600" algn="ctr">
              <a:lnSpc>
                <a:spcPct val="100000"/>
              </a:lnSpc>
              <a:spcBef>
                <a:spcPts val="3829"/>
              </a:spcBef>
            </a:pPr>
            <a:br>
              <a:rPr lang="en-US" sz="3000" dirty="0">
                <a:latin typeface="Segoe UI"/>
                <a:cs typeface="Segoe UI"/>
              </a:rPr>
            </a:br>
            <a:endParaRPr sz="3000" dirty="0">
              <a:latin typeface="Segoe UI"/>
              <a:cs typeface="Segoe UI"/>
            </a:endParaRPr>
          </a:p>
          <a:p>
            <a:pPr marL="432000" indent="-457200" algn="just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sz="3400" b="0" dirty="0">
                <a:latin typeface="+mn-lt"/>
                <a:cs typeface="Segoe UI"/>
              </a:rPr>
              <a:t> </a:t>
            </a:r>
            <a:r>
              <a:rPr sz="3200" b="0" dirty="0">
                <a:latin typeface="Aptos" panose="020B0004020202020204" pitchFamily="34" charset="0"/>
                <a:cs typeface="Segoe UI"/>
              </a:rPr>
              <a:t>Students (Class 9–12) struggle to visualize 3D anatomy from 2D textbook diagrams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32000" indent="-457200" algn="just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en-US" sz="3200" b="0" dirty="0">
                <a:latin typeface="Aptos" panose="020B0004020202020204" pitchFamily="34" charset="0"/>
                <a:cs typeface="Segoe UI"/>
              </a:rPr>
              <a:t> </a:t>
            </a:r>
            <a:r>
              <a:rPr sz="3200" b="0" dirty="0">
                <a:latin typeface="Aptos" panose="020B0004020202020204" pitchFamily="34" charset="0"/>
                <a:cs typeface="Segoe UI"/>
              </a:rPr>
              <a:t>Learning is passive — no feedback on what a student understands or repeatedly gets wrong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.</a:t>
            </a:r>
            <a:endParaRPr sz="3200" dirty="0">
              <a:latin typeface="Aptos" panose="020B0004020202020204" pitchFamily="34" charset="0"/>
              <a:cs typeface="Segoe UI"/>
            </a:endParaRPr>
          </a:p>
          <a:p>
            <a:pPr marL="432000" indent="-457200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 Existing AR apps show 3D models but offer zero personalization or adaptive guidance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32000" indent="-457200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en-US" sz="3200" b="0" dirty="0">
                <a:latin typeface="Aptos" panose="020B0004020202020204" pitchFamily="34" charset="0"/>
                <a:cs typeface="Segoe UI"/>
              </a:rPr>
              <a:t> No system connects what a student studied, for how long, and where they keep failing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32000" indent="-457200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 Teachers cannot identify individual weak spots at scale across a classroom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32000" indent="-457200">
              <a:lnSpc>
                <a:spcPct val="10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 Result: shallow understanding, low engagement, and poor exam outcomes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.</a:t>
            </a:r>
            <a:endParaRPr sz="3200" dirty="0">
              <a:latin typeface="Aptos" panose="020B0004020202020204" pitchFamily="34" charset="0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40085" y="536279"/>
            <a:ext cx="444436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Segoe UI"/>
                <a:cs typeface="Segoe UI"/>
              </a:rPr>
              <a:t>NeuroAR</a:t>
            </a:r>
            <a:endParaRPr sz="4000" b="1" dirty="0">
              <a:solidFill>
                <a:schemeClr val="bg1">
                  <a:lumMod val="95000"/>
                </a:schemeClr>
              </a:solidFill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CA50F-2199-E305-B998-5BF7E08E9456}"/>
              </a:ext>
            </a:extLst>
          </p:cNvPr>
          <p:cNvSpPr txBox="1"/>
          <p:nvPr/>
        </p:nvSpPr>
        <p:spPr>
          <a:xfrm>
            <a:off x="4756150" y="3292475"/>
            <a:ext cx="10591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egoe UI"/>
                <a:cs typeface="Segoe UI"/>
              </a:rPr>
              <a:t>The gap between textbooks and real anatomical understanding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35" dirty="0"/>
              <a:t>UNLOCKE</a:t>
            </a:r>
            <a:r>
              <a:rPr spc="-1195"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0012" y="500377"/>
            <a:ext cx="1904364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Microsoft</a:t>
            </a:r>
            <a:endParaRPr sz="345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8729" y="502273"/>
            <a:ext cx="548005" cy="545465"/>
            <a:chOff x="478729" y="502273"/>
            <a:chExt cx="548005" cy="545465"/>
          </a:xfrm>
        </p:grpSpPr>
        <p:sp>
          <p:nvSpPr>
            <p:cNvPr id="5" name="object 5"/>
            <p:cNvSpPr/>
            <p:nvPr/>
          </p:nvSpPr>
          <p:spPr>
            <a:xfrm>
              <a:off x="478729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75" y="256059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F051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0127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7FB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8729" y="791132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75"/>
                  </a:lnTo>
                  <a:lnTo>
                    <a:pt x="256075" y="256075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33A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127" y="791148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FDB8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2591" y="2073275"/>
            <a:ext cx="15114459" cy="868205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7785" algn="ctr">
              <a:lnSpc>
                <a:spcPct val="100000"/>
              </a:lnSpc>
              <a:spcBef>
                <a:spcPts val="114"/>
              </a:spcBef>
            </a:pPr>
            <a:r>
              <a:rPr lang="en-US" sz="4400" b="1" dirty="0">
                <a:latin typeface="Aptos" panose="020B0004020202020204" pitchFamily="34" charset="0"/>
                <a:cs typeface="Segoe UI"/>
              </a:rPr>
              <a:t>                                 </a:t>
            </a:r>
            <a:r>
              <a:rPr sz="4400" b="1" dirty="0">
                <a:latin typeface="Aptos" panose="020B0004020202020204" pitchFamily="34" charset="0"/>
                <a:cs typeface="Segoe UI"/>
              </a:rPr>
              <a:t>Solution Overview</a:t>
            </a:r>
            <a:endParaRPr lang="en-IN" sz="4400" dirty="0">
              <a:latin typeface="Aptos" panose="020B0004020202020204" pitchFamily="34" charset="0"/>
              <a:cs typeface="Segoe UI"/>
            </a:endParaRPr>
          </a:p>
          <a:p>
            <a:pPr marL="57785" algn="ctr">
              <a:lnSpc>
                <a:spcPct val="100000"/>
              </a:lnSpc>
              <a:spcBef>
                <a:spcPts val="3829"/>
              </a:spcBef>
            </a:pPr>
            <a:br>
              <a:rPr lang="en-IN" sz="3600" dirty="0">
                <a:latin typeface="Segoe UI"/>
                <a:cs typeface="Segoe UI"/>
              </a:rPr>
            </a:br>
            <a:endParaRPr lang="en-IN" sz="3600" dirty="0">
              <a:latin typeface="Segoe UI"/>
              <a:cs typeface="Segoe UI"/>
            </a:endParaRPr>
          </a:p>
          <a:p>
            <a:pPr marL="432000" indent="-4572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3200" b="0" dirty="0">
                <a:latin typeface="Aptos" panose="020B0004020202020204" pitchFamily="34" charset="0"/>
                <a:cs typeface="Segoe UI"/>
              </a:rPr>
              <a:t>Scan a physical flashcard → 3D interactive organ model appears in Augmented Reality</a:t>
            </a:r>
            <a:endParaRPr lang="en-IN" sz="3200" dirty="0">
              <a:latin typeface="Aptos" panose="020B0004020202020204" pitchFamily="34" charset="0"/>
              <a:cs typeface="Segoe UI"/>
            </a:endParaRPr>
          </a:p>
          <a:p>
            <a:pPr marL="432000" marR="5080" indent="-457200">
              <a:lnSpc>
                <a:spcPts val="3190"/>
              </a:lnSpc>
              <a:spcBef>
                <a:spcPts val="1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3200" b="0" dirty="0">
                <a:latin typeface="Aptos" panose="020B0004020202020204" pitchFamily="34" charset="0"/>
                <a:cs typeface="Segoe UI"/>
              </a:rPr>
              <a:t>Three AI agents adapt the full experience to each individual student in real time</a:t>
            </a:r>
            <a:r>
              <a:rPr lang="en-IN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32000" marR="5080" indent="-457200">
              <a:lnSpc>
                <a:spcPts val="3190"/>
              </a:lnSpc>
              <a:spcBef>
                <a:spcPts val="1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3200" b="0" spc="-10" dirty="0">
                <a:latin typeface="Aptos" panose="020B0004020202020204" pitchFamily="34" charset="0"/>
                <a:cs typeface="Segoe UI"/>
              </a:rPr>
              <a:t>Agent 1 (Profile Agent): builds a live learner profile — tracks organs studied, quiz history, and weak    concepts</a:t>
            </a:r>
            <a:r>
              <a:rPr lang="en-IN" sz="3200" spc="-1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32000" marR="5080" indent="-457200">
              <a:lnSpc>
                <a:spcPts val="3190"/>
              </a:lnSpc>
              <a:spcBef>
                <a:spcPts val="1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3200" b="0" dirty="0">
                <a:latin typeface="Aptos" panose="020B0004020202020204" pitchFamily="34" charset="0"/>
                <a:cs typeface="Segoe UI"/>
              </a:rPr>
              <a:t>Agent 2 (Narration Agent): </a:t>
            </a:r>
            <a:r>
              <a:rPr lang="en-IN" sz="3200" b="0" dirty="0" err="1">
                <a:latin typeface="Aptos" panose="020B0004020202020204" pitchFamily="34" charset="0"/>
                <a:cs typeface="Segoe UI"/>
              </a:rPr>
              <a:t>Groq</a:t>
            </a:r>
            <a:r>
              <a:rPr lang="en-IN" sz="3200" b="0" dirty="0">
                <a:latin typeface="Aptos" panose="020B0004020202020204" pitchFamily="34" charset="0"/>
                <a:cs typeface="Segoe UI"/>
              </a:rPr>
              <a:t> generates a personalised narration when an organ is detected</a:t>
            </a:r>
            <a:r>
              <a:rPr lang="en-IN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32000" marR="5080" indent="-457200">
              <a:lnSpc>
                <a:spcPts val="3190"/>
              </a:lnSpc>
              <a:spcBef>
                <a:spcPts val="1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3200" b="0" dirty="0">
                <a:latin typeface="Aptos" panose="020B0004020202020204" pitchFamily="34" charset="0"/>
                <a:cs typeface="Segoe UI"/>
              </a:rPr>
              <a:t>Agent 3 (Quiz Agent): </a:t>
            </a:r>
            <a:r>
              <a:rPr lang="en-IN" sz="3200" b="0" dirty="0" err="1">
                <a:latin typeface="Aptos" panose="020B0004020202020204" pitchFamily="34" charset="0"/>
                <a:cs typeface="Segoe UI"/>
              </a:rPr>
              <a:t>Groq</a:t>
            </a:r>
            <a:r>
              <a:rPr lang="en-IN" sz="3200" b="0" dirty="0">
                <a:latin typeface="Aptos" panose="020B0004020202020204" pitchFamily="34" charset="0"/>
                <a:cs typeface="Segoe UI"/>
              </a:rPr>
              <a:t> generates 5 MCQs targeted at the student's weakest concepts</a:t>
            </a:r>
            <a:r>
              <a:rPr lang="en-IN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32000" marR="5080" indent="-457200">
              <a:lnSpc>
                <a:spcPts val="3190"/>
              </a:lnSpc>
              <a:spcBef>
                <a:spcPts val="1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3200" b="0" dirty="0">
                <a:latin typeface="Aptos" panose="020B0004020202020204" pitchFamily="34" charset="0"/>
                <a:cs typeface="Segoe UI"/>
              </a:rPr>
              <a:t>Frontend: Unity + Vuforia (Android)   |   Backend: Node.js + MongoDB Atlas + Llama</a:t>
            </a:r>
            <a:endParaRPr lang="en-IN" sz="3200" dirty="0">
              <a:latin typeface="Aptos" panose="020B0004020202020204" pitchFamily="34" charset="0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40085" y="536279"/>
            <a:ext cx="444436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solidFill>
                  <a:srgbClr val="FFFFFF"/>
                </a:solidFill>
                <a:latin typeface="Segoe UI"/>
                <a:cs typeface="Segoe UI"/>
              </a:rPr>
              <a:t>NeuroAR</a:t>
            </a:r>
            <a:endParaRPr sz="4000" dirty="0"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231109-F2B5-86AC-6B72-BDD76B1A48C8}"/>
              </a:ext>
            </a:extLst>
          </p:cNvPr>
          <p:cNvSpPr txBox="1"/>
          <p:nvPr/>
        </p:nvSpPr>
        <p:spPr>
          <a:xfrm>
            <a:off x="4085271" y="2835275"/>
            <a:ext cx="12496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ptos" panose="020B0004020202020204" pitchFamily="34" charset="0"/>
                <a:cs typeface="Segoe UI"/>
              </a:rPr>
              <a:t>AR Anatomy — AI-powered </a:t>
            </a:r>
            <a:r>
              <a:rPr lang="en-US" sz="2800" dirty="0" err="1">
                <a:latin typeface="Aptos" panose="020B0004020202020204" pitchFamily="34" charset="0"/>
                <a:cs typeface="Segoe UI"/>
              </a:rPr>
              <a:t>personalised</a:t>
            </a:r>
            <a:r>
              <a:rPr lang="en-US" sz="2800" dirty="0">
                <a:latin typeface="Aptos" panose="020B0004020202020204" pitchFamily="34" charset="0"/>
                <a:cs typeface="Segoe UI"/>
              </a:rPr>
              <a:t> anatomy learning on Android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B7FC0F-F261-E7E2-0D76-9D8900ED7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8829" y="2757948"/>
            <a:ext cx="3790501" cy="82178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35" dirty="0"/>
              <a:t>UNLOCKE</a:t>
            </a:r>
            <a:r>
              <a:rPr spc="-1195"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0012" y="500377"/>
            <a:ext cx="1904364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Microsoft</a:t>
            </a:r>
            <a:endParaRPr sz="345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8729" y="502273"/>
            <a:ext cx="548005" cy="545465"/>
            <a:chOff x="478729" y="502273"/>
            <a:chExt cx="548005" cy="545465"/>
          </a:xfrm>
        </p:grpSpPr>
        <p:sp>
          <p:nvSpPr>
            <p:cNvPr id="5" name="object 5"/>
            <p:cNvSpPr/>
            <p:nvPr/>
          </p:nvSpPr>
          <p:spPr>
            <a:xfrm>
              <a:off x="478729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75" y="256059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F051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0127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7FB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8729" y="791132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75"/>
                  </a:lnTo>
                  <a:lnTo>
                    <a:pt x="256075" y="256075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33A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127" y="791148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FDB8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20507" y="1631796"/>
            <a:ext cx="14841743" cy="926343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17295" algn="ctr">
              <a:lnSpc>
                <a:spcPct val="100000"/>
              </a:lnSpc>
              <a:spcBef>
                <a:spcPts val="114"/>
              </a:spcBef>
            </a:pPr>
            <a:endParaRPr lang="en-US" sz="3800" b="1" dirty="0">
              <a:latin typeface="Segoe UI"/>
              <a:cs typeface="Segoe UI"/>
            </a:endParaRPr>
          </a:p>
          <a:p>
            <a:pPr marL="1217295" algn="ctr">
              <a:lnSpc>
                <a:spcPct val="100000"/>
              </a:lnSpc>
              <a:spcBef>
                <a:spcPts val="114"/>
              </a:spcBef>
            </a:pPr>
            <a:r>
              <a:rPr lang="en-US" sz="4400" b="1" dirty="0">
                <a:latin typeface="Aptos" panose="020B0004020202020204" pitchFamily="34" charset="0"/>
                <a:cs typeface="Segoe UI"/>
              </a:rPr>
              <a:t>                         </a:t>
            </a:r>
            <a:r>
              <a:rPr sz="4400" b="1" dirty="0">
                <a:latin typeface="Aptos" panose="020B0004020202020204" pitchFamily="34" charset="0"/>
                <a:cs typeface="Segoe UI"/>
              </a:rPr>
              <a:t>Key Features &amp; User Flow</a:t>
            </a:r>
          </a:p>
          <a:p>
            <a:pPr marL="1217295" algn="ctr">
              <a:lnSpc>
                <a:spcPct val="100000"/>
              </a:lnSpc>
              <a:spcBef>
                <a:spcPts val="3829"/>
              </a:spcBef>
            </a:pPr>
            <a:br>
              <a:rPr lang="en-US" sz="2400" b="1" dirty="0">
                <a:latin typeface="Segoe UI"/>
                <a:cs typeface="Segoe UI"/>
              </a:rPr>
            </a:br>
            <a:br>
              <a:rPr lang="en-US" sz="2400" b="1" dirty="0">
                <a:latin typeface="Segoe UI"/>
                <a:cs typeface="Segoe UI"/>
              </a:rPr>
            </a:br>
            <a:endParaRPr lang="en-US" sz="2400" b="1" dirty="0">
              <a:latin typeface="Segoe UI"/>
              <a:cs typeface="Segoe UI"/>
            </a:endParaRPr>
          </a:p>
          <a:p>
            <a:pPr marL="432000" indent="-457200">
              <a:lnSpc>
                <a:spcPct val="10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AR Visualisation — scan card → 3D organ (basic/detailed toggle), anatomical label overlay, pinch-to-zoom</a:t>
            </a:r>
            <a:endParaRPr sz="3200" dirty="0">
              <a:latin typeface="Aptos" panose="020B0004020202020204" pitchFamily="34" charset="0"/>
              <a:cs typeface="Segoe UI"/>
            </a:endParaRPr>
          </a:p>
          <a:p>
            <a:pPr marL="432000" indent="-457200">
              <a:lnSpc>
                <a:spcPct val="10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AI Narration (Agent 2) — level-appropriate 60-word narration displayed on every organ detection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32000" indent="-457200">
              <a:lnSpc>
                <a:spcPct val="10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200" b="0" spc="-10" dirty="0">
                <a:latin typeface="Aptos" panose="020B0004020202020204" pitchFamily="34" charset="0"/>
                <a:cs typeface="Segoe UI"/>
              </a:rPr>
              <a:t>Smart Quiz (Agent 3) — Llama generates quiz questions targeting the student's weakest concepts.</a:t>
            </a:r>
          </a:p>
          <a:p>
            <a:pPr marL="432000" indent="-457200">
              <a:lnSpc>
                <a:spcPct val="10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3200" b="0" dirty="0">
                <a:latin typeface="Aptos" panose="020B0004020202020204" pitchFamily="34" charset="0"/>
                <a:cs typeface="Segoe UI"/>
              </a:rPr>
              <a:t>Adaptive Profile (Agent 1) — tracks every session, quiz result, time spent; computes overall Level + weak Concepts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32000" indent="-457200">
              <a:lnSpc>
                <a:spcPct val="10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Onboarding — collects grade, prior knowledge, and learning goal on first login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32000" indent="-457200">
              <a:lnSpc>
                <a:spcPct val="10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User Flow:  Login → Profile loads → Scan flashcard → 3D model + AI narration → View labels → Take quiz → Results saved → Profile updated → Next organ recommended</a:t>
            </a:r>
            <a:endParaRPr sz="3200" dirty="0">
              <a:latin typeface="Aptos" panose="020B0004020202020204" pitchFamily="34" charset="0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40085" y="536279"/>
            <a:ext cx="444436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solidFill>
                  <a:srgbClr val="FFFFFF"/>
                </a:solidFill>
                <a:latin typeface="Segoe UI"/>
                <a:cs typeface="Segoe UI"/>
              </a:rPr>
              <a:t>NeuroAR</a:t>
            </a:r>
            <a:endParaRPr sz="4000" dirty="0"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74B111-781D-8DF6-C5BD-2AF9DC551399}"/>
              </a:ext>
            </a:extLst>
          </p:cNvPr>
          <p:cNvSpPr txBox="1"/>
          <p:nvPr/>
        </p:nvSpPr>
        <p:spPr>
          <a:xfrm>
            <a:off x="5340279" y="2911475"/>
            <a:ext cx="942354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Aptos" panose="020B0004020202020204" pitchFamily="34" charset="0"/>
                <a:cs typeface="Segoe UI"/>
              </a:rPr>
              <a:t>From scan to </a:t>
            </a:r>
            <a:r>
              <a:rPr lang="en-US" sz="2800" dirty="0" err="1">
                <a:latin typeface="Aptos" panose="020B0004020202020204" pitchFamily="34" charset="0"/>
                <a:cs typeface="Segoe UI"/>
              </a:rPr>
              <a:t>personalised</a:t>
            </a:r>
            <a:r>
              <a:rPr lang="en-US" sz="2800" dirty="0">
                <a:latin typeface="Aptos" panose="020B0004020202020204" pitchFamily="34" charset="0"/>
                <a:cs typeface="Segoe UI"/>
              </a:rPr>
              <a:t> learning in under 3 seconds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34E17D-49E6-922F-05A5-A92DCE0CC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128" y="2225675"/>
            <a:ext cx="4100750" cy="88905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35" dirty="0"/>
              <a:t>UNLOCKE</a:t>
            </a:r>
            <a:r>
              <a:rPr spc="-1195"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0012" y="500377"/>
            <a:ext cx="1904364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Microsoft</a:t>
            </a:r>
            <a:endParaRPr sz="345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8729" y="502273"/>
            <a:ext cx="548005" cy="545465"/>
            <a:chOff x="478729" y="502273"/>
            <a:chExt cx="548005" cy="545465"/>
          </a:xfrm>
        </p:grpSpPr>
        <p:sp>
          <p:nvSpPr>
            <p:cNvPr id="5" name="object 5"/>
            <p:cNvSpPr/>
            <p:nvPr/>
          </p:nvSpPr>
          <p:spPr>
            <a:xfrm>
              <a:off x="478729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75" y="256059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F051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0127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7FB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8729" y="791132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75"/>
                  </a:lnTo>
                  <a:lnTo>
                    <a:pt x="256075" y="256075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33A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127" y="791148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FDB8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12728" y="2017183"/>
            <a:ext cx="17656175" cy="757322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422400" algn="ctr">
              <a:lnSpc>
                <a:spcPct val="100000"/>
              </a:lnSpc>
              <a:spcBef>
                <a:spcPts val="114"/>
              </a:spcBef>
            </a:pPr>
            <a:r>
              <a:rPr sz="4400" b="1" dirty="0">
                <a:latin typeface="Aptos" panose="020B0004020202020204" pitchFamily="34" charset="0"/>
                <a:cs typeface="Segoe UI"/>
              </a:rPr>
              <a:t>Architecture &amp; Technology</a:t>
            </a:r>
          </a:p>
          <a:p>
            <a:pPr marL="1422400" algn="ctr">
              <a:lnSpc>
                <a:spcPct val="100000"/>
              </a:lnSpc>
              <a:spcBef>
                <a:spcPts val="3829"/>
              </a:spcBef>
            </a:pPr>
            <a:br>
              <a:rPr lang="en-IN" sz="2000" dirty="0">
                <a:latin typeface="Segoe UI"/>
                <a:cs typeface="Segoe UI"/>
              </a:rPr>
            </a:br>
            <a:endParaRPr lang="en-IN" sz="2000" dirty="0">
              <a:latin typeface="Segoe UI"/>
              <a:cs typeface="Segoe UI"/>
            </a:endParaRPr>
          </a:p>
          <a:p>
            <a:pPr marL="288000" indent="-457200" algn="l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3200" b="0" dirty="0">
                <a:latin typeface="Aptos" panose="020B0004020202020204" pitchFamily="34" charset="0"/>
                <a:cs typeface="Segoe UI"/>
              </a:rPr>
              <a:t>Unity (Android) sends HTTP POST requests with JSON to an Express server — 7 REST endpoints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288000" indent="-457200" algn="l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3200" b="0" dirty="0">
                <a:latin typeface="Aptos" panose="020B0004020202020204" pitchFamily="34" charset="0"/>
                <a:cs typeface="Segoe UI"/>
              </a:rPr>
              <a:t>Endpoints: /</a:t>
            </a:r>
            <a:r>
              <a:rPr lang="en-US" sz="3200" b="0" dirty="0" err="1">
                <a:latin typeface="Aptos" panose="020B0004020202020204" pitchFamily="34" charset="0"/>
                <a:cs typeface="Segoe UI"/>
              </a:rPr>
              <a:t>api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/profile/load, /</a:t>
            </a:r>
            <a:r>
              <a:rPr lang="en-US" sz="3200" b="0" dirty="0" err="1">
                <a:latin typeface="Aptos" panose="020B0004020202020204" pitchFamily="34" charset="0"/>
                <a:cs typeface="Segoe UI"/>
              </a:rPr>
              <a:t>api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/profile/save, /</a:t>
            </a:r>
            <a:r>
              <a:rPr lang="en-US" sz="3200" b="0" dirty="0" err="1">
                <a:latin typeface="Aptos" panose="020B0004020202020204" pitchFamily="34" charset="0"/>
                <a:cs typeface="Segoe UI"/>
              </a:rPr>
              <a:t>api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/organ/log, /</a:t>
            </a:r>
            <a:r>
              <a:rPr lang="en-US" sz="3200" b="0" dirty="0" err="1">
                <a:latin typeface="Aptos" panose="020B0004020202020204" pitchFamily="34" charset="0"/>
                <a:cs typeface="Segoe UI"/>
              </a:rPr>
              <a:t>api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/quiz/submit, /</a:t>
            </a:r>
            <a:r>
              <a:rPr lang="en-US" sz="3200" b="0" dirty="0" err="1">
                <a:latin typeface="Aptos" panose="020B0004020202020204" pitchFamily="34" charset="0"/>
                <a:cs typeface="Segoe UI"/>
              </a:rPr>
              <a:t>api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/agent/narrate, /</a:t>
            </a:r>
            <a:r>
              <a:rPr lang="en-US" sz="3200" b="0" dirty="0" err="1">
                <a:latin typeface="Aptos" panose="020B0004020202020204" pitchFamily="34" charset="0"/>
                <a:cs typeface="Segoe UI"/>
              </a:rPr>
              <a:t>api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/agent</a:t>
            </a:r>
            <a:r>
              <a:rPr lang="en-US" sz="3200" b="0">
                <a:latin typeface="Aptos" panose="020B0004020202020204" pitchFamily="34" charset="0"/>
                <a:cs typeface="Segoe UI"/>
              </a:rPr>
              <a:t>/question</a:t>
            </a:r>
            <a:r>
              <a:rPr lang="en-US" sz="3200">
                <a:latin typeface="Aptos" panose="020B0004020202020204" pitchFamily="34" charset="0"/>
                <a:cs typeface="Segoe UI"/>
              </a:rPr>
              <a:t>.</a:t>
            </a:r>
            <a:endParaRPr lang="en-US" sz="3200" dirty="0">
              <a:latin typeface="Aptos" panose="020B0004020202020204" pitchFamily="34" charset="0"/>
              <a:cs typeface="Segoe UI"/>
            </a:endParaRPr>
          </a:p>
          <a:p>
            <a:pPr marL="288000" indent="-457200" algn="l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3200" b="0" spc="-10" dirty="0">
                <a:latin typeface="Aptos" panose="020B0004020202020204" pitchFamily="34" charset="0"/>
                <a:cs typeface="Segoe UI"/>
              </a:rPr>
              <a:t>MongoDB Atlas stores one document per student: organ History, quiz History, agent Summary</a:t>
            </a:r>
            <a:r>
              <a:rPr lang="en-US" sz="3200" spc="-1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288000" indent="-457200" algn="l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3200" b="0" dirty="0">
                <a:latin typeface="Aptos" panose="020B0004020202020204" pitchFamily="34" charset="0"/>
                <a:cs typeface="Segoe UI"/>
              </a:rPr>
              <a:t>Llama 70b8192 powers all three agents — summary computation, narration, quiz generation.</a:t>
            </a:r>
          </a:p>
          <a:p>
            <a:pPr marL="288000" indent="-457200" algn="l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3200" b="0" dirty="0">
                <a:latin typeface="Aptos" panose="020B0004020202020204" pitchFamily="34" charset="0"/>
                <a:cs typeface="Segoe UI"/>
              </a:rPr>
              <a:t>All Unity agents degrade gracefully to offline mode if the backend is unreachable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288000" indent="-457200" algn="l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3200" b="0" dirty="0">
                <a:latin typeface="Aptos" panose="020B0004020202020204" pitchFamily="34" charset="0"/>
                <a:cs typeface="Segoe UI"/>
              </a:rPr>
              <a:t>AR layer: Vuforia 11.4 image targets → Observer </a:t>
            </a:r>
            <a:r>
              <a:rPr lang="en-US" sz="3200" b="0" dirty="0" err="1">
                <a:latin typeface="Aptos" panose="020B0004020202020204" pitchFamily="34" charset="0"/>
                <a:cs typeface="Segoe UI"/>
              </a:rPr>
              <a:t>Behaviour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 → TRACKED / LOST events drive all agent hooks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288000" indent="-457200" algn="l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3200" b="0" dirty="0">
                <a:latin typeface="Aptos" panose="020B0004020202020204" pitchFamily="34" charset="0"/>
                <a:cs typeface="Segoe UI"/>
              </a:rPr>
              <a:t>Stack: Unity 2022 + C#  |  Vuforia 11.4  |  Node.js + LangChain.js  |  MongoDB Atlas  |  Llama</a:t>
            </a:r>
            <a:endParaRPr lang="en-US" sz="32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40085" y="536279"/>
            <a:ext cx="444436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solidFill>
                  <a:srgbClr val="FFFFFF"/>
                </a:solidFill>
                <a:latin typeface="Segoe UI"/>
                <a:cs typeface="Segoe UI"/>
              </a:rPr>
              <a:t>NeuroAR</a:t>
            </a:r>
            <a:endParaRPr sz="4000" dirty="0"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02416-ECB6-A233-EB72-4FA32940FA09}"/>
              </a:ext>
            </a:extLst>
          </p:cNvPr>
          <p:cNvSpPr txBox="1"/>
          <p:nvPr/>
        </p:nvSpPr>
        <p:spPr>
          <a:xfrm>
            <a:off x="5417608" y="2682875"/>
            <a:ext cx="926888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dirty="0">
                <a:latin typeface="Segoe UI"/>
                <a:cs typeface="Segoe UI"/>
              </a:rPr>
              <a:t>Unity frontend  ↔  Node.js backend  ↔ Llama intelligence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35" dirty="0"/>
              <a:t>UNLOCKE</a:t>
            </a:r>
            <a:r>
              <a:rPr spc="-1195"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0012" y="500377"/>
            <a:ext cx="1904364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Microsoft</a:t>
            </a:r>
            <a:endParaRPr sz="345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8729" y="502273"/>
            <a:ext cx="548005" cy="545465"/>
            <a:chOff x="478729" y="502273"/>
            <a:chExt cx="548005" cy="545465"/>
          </a:xfrm>
        </p:grpSpPr>
        <p:sp>
          <p:nvSpPr>
            <p:cNvPr id="5" name="object 5"/>
            <p:cNvSpPr/>
            <p:nvPr/>
          </p:nvSpPr>
          <p:spPr>
            <a:xfrm>
              <a:off x="478729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75" y="256059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F051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0127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7FB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8729" y="791132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75"/>
                  </a:lnTo>
                  <a:lnTo>
                    <a:pt x="256075" y="256075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33A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127" y="791148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FDB8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1058241" y="4130675"/>
            <a:ext cx="18208051" cy="558550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970654" algn="ctr">
              <a:lnSpc>
                <a:spcPct val="100000"/>
              </a:lnSpc>
              <a:spcBef>
                <a:spcPts val="3829"/>
              </a:spcBef>
            </a:pPr>
            <a:endParaRPr lang="en-IN" sz="1000" dirty="0"/>
          </a:p>
          <a:p>
            <a:pPr marL="4320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3200" b="0" dirty="0">
                <a:latin typeface="Aptos" panose="020B0004020202020204" pitchFamily="34" charset="0"/>
              </a:rPr>
              <a:t>Unity over native Android: best-in-class AR via Vuforia; single codebase deployable to multiple platforms.</a:t>
            </a:r>
          </a:p>
          <a:p>
            <a:pPr marL="4320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3200" b="0" spc="-10" dirty="0">
                <a:latin typeface="Aptos" panose="020B0004020202020204" pitchFamily="34" charset="0"/>
              </a:rPr>
              <a:t>Node.js over Azure Functions: no cold-start delays, instant local testing, easier iterative development.</a:t>
            </a:r>
          </a:p>
          <a:p>
            <a:pPr marL="4320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3200" b="0" dirty="0">
                <a:latin typeface="Aptos" panose="020B0004020202020204" pitchFamily="34" charset="0"/>
              </a:rPr>
              <a:t>Silent offline fallback on all 3 agents: students never see a broken experience if backend is unreachable.</a:t>
            </a:r>
          </a:p>
          <a:p>
            <a:pPr marL="4320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3200" b="0" dirty="0">
                <a:latin typeface="Aptos" panose="020B0004020202020204" pitchFamily="34" charset="0"/>
              </a:rPr>
              <a:t>Lazy-initialized HTTP service: URL set after component creation, fixing a silent config bug.</a:t>
            </a:r>
          </a:p>
          <a:p>
            <a:pPr marL="4320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3200" b="0" dirty="0">
                <a:latin typeface="Aptos" panose="020B0004020202020204" pitchFamily="34" charset="0"/>
              </a:rPr>
              <a:t>Dropped: TTS audio narration — text narration delivers the same educational value faster to implement.</a:t>
            </a:r>
          </a:p>
          <a:p>
            <a:pPr marL="4320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3200" b="0" dirty="0">
                <a:latin typeface="Aptos" panose="020B0004020202020204" pitchFamily="34" charset="0"/>
              </a:rPr>
              <a:t>Dropped: </a:t>
            </a:r>
            <a:r>
              <a:rPr lang="en-IN" sz="3200" b="0" dirty="0" err="1">
                <a:latin typeface="Aptos" panose="020B0004020202020204" pitchFamily="34" charset="0"/>
              </a:rPr>
              <a:t>LangGraph</a:t>
            </a:r>
            <a:r>
              <a:rPr lang="en-IN" sz="3200" b="0" dirty="0">
                <a:latin typeface="Aptos" panose="020B0004020202020204" pitchFamily="34" charset="0"/>
              </a:rPr>
              <a:t> orchestration — direct Express routes are simpler and fully sufficient for current scope.</a:t>
            </a:r>
          </a:p>
          <a:p>
            <a:pPr marL="4320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3200" b="0" dirty="0">
                <a:latin typeface="Aptos" panose="020B0004020202020204" pitchFamily="34" charset="0"/>
              </a:rPr>
              <a:t>Rate limiting (60 </a:t>
            </a:r>
            <a:r>
              <a:rPr lang="en-IN" sz="3200" b="0" dirty="0" err="1">
                <a:latin typeface="Aptos" panose="020B0004020202020204" pitchFamily="34" charset="0"/>
              </a:rPr>
              <a:t>req</a:t>
            </a:r>
            <a:r>
              <a:rPr lang="en-IN" sz="3200" b="0" dirty="0">
                <a:latin typeface="Aptos" panose="020B0004020202020204" pitchFamily="34" charset="0"/>
              </a:rPr>
              <a:t>/min) added to all API routes to prevent Llama quota abuse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940085" y="536279"/>
            <a:ext cx="444436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solidFill>
                  <a:schemeClr val="bg1"/>
                </a:solidFill>
                <a:latin typeface="Segoe UI"/>
                <a:cs typeface="Segoe UI"/>
              </a:rPr>
              <a:t>NeuroAR</a:t>
            </a:r>
            <a:endParaRPr sz="40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D005FA-7EC5-DC94-118C-F8B6357642F9}"/>
              </a:ext>
            </a:extLst>
          </p:cNvPr>
          <p:cNvSpPr txBox="1"/>
          <p:nvPr/>
        </p:nvSpPr>
        <p:spPr>
          <a:xfrm>
            <a:off x="5976665" y="2070119"/>
            <a:ext cx="837120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400" b="1" dirty="0">
                <a:latin typeface="Aptos" panose="020B0004020202020204" pitchFamily="34" charset="0"/>
              </a:rPr>
              <a:t>Design Decisions &amp; Trade-offs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8BA374-08F7-57DE-9957-077C06514C79}"/>
              </a:ext>
            </a:extLst>
          </p:cNvPr>
          <p:cNvSpPr txBox="1"/>
          <p:nvPr/>
        </p:nvSpPr>
        <p:spPr>
          <a:xfrm>
            <a:off x="5976665" y="26011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7A7D9C-F5FD-1863-F1DC-9D05E606D0DE}"/>
              </a:ext>
            </a:extLst>
          </p:cNvPr>
          <p:cNvSpPr txBox="1"/>
          <p:nvPr/>
        </p:nvSpPr>
        <p:spPr>
          <a:xfrm>
            <a:off x="2045844" y="2908729"/>
            <a:ext cx="126137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70654" algn="ctr">
              <a:lnSpc>
                <a:spcPct val="100000"/>
              </a:lnSpc>
              <a:spcBef>
                <a:spcPts val="3829"/>
              </a:spcBef>
            </a:pPr>
            <a:r>
              <a:rPr lang="en-US" sz="2800" dirty="0">
                <a:latin typeface="Aptos" panose="020B0004020202020204" pitchFamily="34" charset="0"/>
              </a:rPr>
              <a:t>Thoughtful choices made under real constraints</a:t>
            </a:r>
          </a:p>
          <a:p>
            <a:endParaRPr lang="en-IN" sz="28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35" dirty="0"/>
              <a:t>UNLOCKE</a:t>
            </a:r>
            <a:r>
              <a:rPr spc="-1195"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0012" y="500377"/>
            <a:ext cx="1904364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Microsoft</a:t>
            </a:r>
            <a:endParaRPr sz="345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8729" y="502273"/>
            <a:ext cx="548005" cy="545465"/>
            <a:chOff x="478729" y="502273"/>
            <a:chExt cx="548005" cy="545465"/>
          </a:xfrm>
        </p:grpSpPr>
        <p:sp>
          <p:nvSpPr>
            <p:cNvPr id="5" name="object 5"/>
            <p:cNvSpPr/>
            <p:nvPr/>
          </p:nvSpPr>
          <p:spPr>
            <a:xfrm>
              <a:off x="478729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75" y="256059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F051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0127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7FB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8729" y="791132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75"/>
                  </a:lnTo>
                  <a:lnTo>
                    <a:pt x="256075" y="256075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33A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0127" y="791148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FDB8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35269" y="1616075"/>
            <a:ext cx="18339435" cy="92220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739140" algn="ctr">
              <a:lnSpc>
                <a:spcPct val="100000"/>
              </a:lnSpc>
              <a:spcBef>
                <a:spcPts val="114"/>
              </a:spcBef>
            </a:pPr>
            <a:r>
              <a:rPr sz="3800" b="1" dirty="0">
                <a:latin typeface="Segoe UI"/>
                <a:cs typeface="Segoe UI"/>
              </a:rPr>
              <a:t>Current Status, Limitations &amp; Next Steps</a:t>
            </a:r>
            <a:endParaRPr lang="en-US" sz="3800" b="1" dirty="0">
              <a:latin typeface="Segoe UI"/>
              <a:cs typeface="Segoe UI"/>
            </a:endParaRPr>
          </a:p>
          <a:p>
            <a:pPr marL="739140" algn="ctr">
              <a:lnSpc>
                <a:spcPct val="100000"/>
              </a:lnSpc>
              <a:spcBef>
                <a:spcPts val="114"/>
              </a:spcBef>
            </a:pPr>
            <a:endParaRPr lang="en-US" sz="3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260"/>
              </a:spcBef>
            </a:pPr>
            <a:r>
              <a:rPr sz="3200" b="1" dirty="0">
                <a:latin typeface="Aptos" panose="020B0004020202020204" pitchFamily="34" charset="0"/>
                <a:cs typeface="Segoe UI"/>
              </a:rPr>
              <a:t>Fully functional:</a:t>
            </a:r>
          </a:p>
          <a:p>
            <a:pPr marL="469900" indent="-457200">
              <a:lnSpc>
                <a:spcPct val="100000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Vuforia AR tracking, 3D organ models (basic + detailed), label overlay, fade animations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69900" indent="-457200">
              <a:lnSpc>
                <a:spcPct val="100000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sz="3200" b="0" spc="-10" dirty="0">
                <a:latin typeface="Aptos" panose="020B0004020202020204" pitchFamily="34" charset="0"/>
                <a:cs typeface="Segoe UI"/>
              </a:rPr>
              <a:t>All 3 AI agents implemented in Unity with offline fallback and graceful degradation</a:t>
            </a:r>
            <a:r>
              <a:rPr lang="en-US" sz="3200" spc="-1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69900" indent="-457200">
              <a:lnSpc>
                <a:spcPct val="100000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Node.js backend with all 6 endpoints, MongoDB integration, 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Llama </a:t>
            </a:r>
            <a:r>
              <a:rPr sz="3200" b="0" dirty="0">
                <a:latin typeface="Aptos" panose="020B0004020202020204" pitchFamily="34" charset="0"/>
                <a:cs typeface="Segoe UI"/>
              </a:rPr>
              <a:t>prompts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69900" indent="-457200">
              <a:lnSpc>
                <a:spcPct val="100000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Login (demo + guest mode), onboarding flow, profile dashboard with live Agent 1 stats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69900" indent="-457200">
              <a:lnSpc>
                <a:spcPct val="100000"/>
              </a:lnSpc>
              <a:spcBef>
                <a:spcPts val="70"/>
              </a:spcBef>
              <a:buFont typeface="Wingdings" panose="05000000000000000000" pitchFamily="2" charset="2"/>
              <a:buChar char="Ø"/>
            </a:pPr>
            <a:endParaRPr lang="en-US" sz="3000" b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3000" b="1" dirty="0">
                <a:latin typeface="Aptos" panose="020B0004020202020204" pitchFamily="34" charset="0"/>
                <a:cs typeface="Segoe UI"/>
              </a:rPr>
              <a:t>Partially implemented / Limitations</a:t>
            </a:r>
            <a:r>
              <a:rPr lang="en-IN" sz="3000" b="1" dirty="0">
                <a:latin typeface="Aptos" panose="020B0004020202020204" pitchFamily="34" charset="0"/>
                <a:cs typeface="Segoe UI"/>
              </a:rPr>
              <a:t>:</a:t>
            </a:r>
          </a:p>
          <a:p>
            <a:pPr marL="469900" indent="-457200">
              <a:lnSpc>
                <a:spcPct val="100000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lang="en-IN" sz="3200" b="0" dirty="0">
                <a:latin typeface="Aptos" panose="020B0004020202020204" pitchFamily="34" charset="0"/>
                <a:cs typeface="Segoe UI"/>
              </a:rPr>
              <a:t>Firebase Google login — code complete, awaiting Firebase SDK package import</a:t>
            </a:r>
            <a:r>
              <a:rPr lang="en-IN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69900" indent="-457200">
              <a:lnSpc>
                <a:spcPct val="100000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Backend runs locally — ready for deployment to Azure App Service or Railway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.</a:t>
            </a:r>
          </a:p>
          <a:p>
            <a:pPr marL="469900" indent="-457200">
              <a:lnSpc>
                <a:spcPct val="100000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ptos" panose="020B0004020202020204" pitchFamily="34" charset="0"/>
                <a:cs typeface="Segoe UI"/>
              </a:rPr>
              <a:t>Embeddings model </a:t>
            </a:r>
            <a:r>
              <a:rPr lang="en-IN" sz="3200" b="0" dirty="0">
                <a:latin typeface="Aptos" panose="020B0004020202020204" pitchFamily="34" charset="0"/>
                <a:cs typeface="Segoe UI"/>
              </a:rPr>
              <a:t>— </a:t>
            </a:r>
            <a:r>
              <a:rPr lang="en-IN" sz="3200" b="0" dirty="0" err="1">
                <a:latin typeface="Aptos" panose="020B0004020202020204" pitchFamily="34" charset="0"/>
                <a:cs typeface="Segoe UI"/>
              </a:rPr>
              <a:t>huggingface</a:t>
            </a:r>
            <a:r>
              <a:rPr lang="en-IN" sz="3200" dirty="0">
                <a:latin typeface="Aptos" panose="020B0004020202020204" pitchFamily="34" charset="0"/>
                <a:cs typeface="Segoe UI"/>
              </a:rPr>
              <a:t> sentence-transformers/all-miniLM-L6-v2.</a:t>
            </a:r>
            <a:endParaRPr lang="en-US" sz="3200" dirty="0">
              <a:latin typeface="Aptos" panose="020B0004020202020204" pitchFamily="34" charset="0"/>
              <a:cs typeface="Segoe UI"/>
            </a:endParaRPr>
          </a:p>
          <a:p>
            <a:pPr marL="469900" indent="-457200">
              <a:lnSpc>
                <a:spcPct val="100000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Narration is text-only (no TTS audio); quiz quality depends on 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Llama </a:t>
            </a:r>
            <a:r>
              <a:rPr sz="3200" b="0" dirty="0">
                <a:latin typeface="Aptos" panose="020B0004020202020204" pitchFamily="34" charset="0"/>
                <a:cs typeface="Segoe UI"/>
              </a:rPr>
              <a:t>anatomy knowledge</a:t>
            </a:r>
            <a:r>
              <a:rPr lang="en-US" sz="3200" b="0" dirty="0">
                <a:latin typeface="Aptos" panose="020B0004020202020204" pitchFamily="34" charset="0"/>
                <a:cs typeface="Segoe UI"/>
              </a:rPr>
              <a:t>.</a:t>
            </a:r>
            <a:endParaRPr sz="3200" dirty="0">
              <a:latin typeface="Aptos" panose="020B0004020202020204" pitchFamily="34" charset="0"/>
              <a:cs typeface="Segoe UI"/>
            </a:endParaRPr>
          </a:p>
          <a:p>
            <a:pPr>
              <a:lnSpc>
                <a:spcPct val="100000"/>
              </a:lnSpc>
              <a:spcBef>
                <a:spcPts val="3310"/>
              </a:spcBef>
            </a:pPr>
            <a:r>
              <a:rPr lang="en-US" sz="3000" b="1" dirty="0">
                <a:latin typeface="Aptos" panose="020B0004020202020204" pitchFamily="34" charset="0"/>
              </a:rPr>
              <a:t>Next Steps:</a:t>
            </a:r>
            <a:endParaRPr sz="3000" b="1" dirty="0">
              <a:latin typeface="Aptos" panose="020B0004020202020204" pitchFamily="34" charset="0"/>
              <a:cs typeface="Segoe UI"/>
            </a:endParaRPr>
          </a:p>
          <a:p>
            <a:pPr marL="485140" marR="5080" indent="-457200">
              <a:lnSpc>
                <a:spcPct val="113599"/>
              </a:lnSpc>
              <a:buFont typeface="Arial" panose="020B0604020202020204" pitchFamily="34" charset="0"/>
              <a:buChar char="•"/>
            </a:pPr>
            <a:r>
              <a:rPr sz="3200" b="0" dirty="0">
                <a:latin typeface="Aptos" panose="020B0004020202020204" pitchFamily="34" charset="0"/>
                <a:cs typeface="Segoe UI"/>
              </a:rPr>
              <a:t>Deploy Azure AI Speech for audio narration</a:t>
            </a:r>
            <a:r>
              <a:rPr lang="en-US" sz="3200" dirty="0">
                <a:latin typeface="Aptos" panose="020B0004020202020204" pitchFamily="34" charset="0"/>
                <a:cs typeface="Segoe UI"/>
              </a:rPr>
              <a:t>, auto organ detection for any anatomy book.</a:t>
            </a:r>
            <a:endParaRPr lang="en-US" sz="3200" b="0" dirty="0">
              <a:latin typeface="Aptos" panose="020B0004020202020204" pitchFamily="34" charset="0"/>
              <a:cs typeface="Segoe UI"/>
            </a:endParaRPr>
          </a:p>
          <a:p>
            <a:pPr marL="485140" indent="-457200">
              <a:lnSpc>
                <a:spcPct val="100000"/>
              </a:lnSpc>
              <a:spcBef>
                <a:spcPts val="1415"/>
              </a:spcBef>
              <a:buFont typeface="Arial" panose="020B0604020202020204" pitchFamily="34" charset="0"/>
              <a:buChar char="•"/>
            </a:pPr>
            <a:r>
              <a:rPr lang="en-US" sz="3200" b="0" dirty="0">
                <a:latin typeface="Aptos" panose="020B0004020202020204" pitchFamily="34" charset="0"/>
                <a:cs typeface="Segoe UI"/>
              </a:rPr>
              <a:t>Expand organ library; add RAG for verified anatomy facts.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940085" y="536279"/>
            <a:ext cx="444436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solidFill>
                  <a:srgbClr val="FFFFFF"/>
                </a:solidFill>
                <a:latin typeface="Segoe UI"/>
                <a:cs typeface="Segoe UI"/>
              </a:rPr>
              <a:t>NeuroAR</a:t>
            </a:r>
            <a:endParaRPr sz="4000" dirty="0">
              <a:latin typeface="Segoe UI"/>
              <a:cs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E6BC1F-B05C-61A0-9AFB-F4ECEDF116BA}"/>
              </a:ext>
            </a:extLst>
          </p:cNvPr>
          <p:cNvSpPr txBox="1"/>
          <p:nvPr/>
        </p:nvSpPr>
        <p:spPr>
          <a:xfrm>
            <a:off x="6124944" y="2225675"/>
            <a:ext cx="756008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Aptos" panose="020B0004020202020204" pitchFamily="34" charset="0"/>
                <a:cs typeface="Segoe UI"/>
              </a:rPr>
              <a:t> Honest assessment and a clear path forward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</TotalTime>
  <Words>850</Words>
  <Application>Microsoft Office PowerPoint</Application>
  <PresentationFormat>Custom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Lucida Sans Unicode</vt:lpstr>
      <vt:lpstr>Segoe UI</vt:lpstr>
      <vt:lpstr>Trebuchet MS</vt:lpstr>
      <vt:lpstr>Wingdings</vt:lpstr>
      <vt:lpstr>Office Theme</vt:lpstr>
      <vt:lpstr>UNLOCKED</vt:lpstr>
      <vt:lpstr>UNLOCKED</vt:lpstr>
      <vt:lpstr>UNLOCKED</vt:lpstr>
      <vt:lpstr>UNLOCKED</vt:lpstr>
      <vt:lpstr>UNLOCKED</vt:lpstr>
      <vt:lpstr>UNLOCKED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Phase-3-Presentation-Template</dc:title>
  <dc:creator>Deependra Singh Jodha</dc:creator>
  <cp:lastModifiedBy>HIMANSHU (24113059)</cp:lastModifiedBy>
  <cp:revision>7</cp:revision>
  <dcterms:created xsi:type="dcterms:W3CDTF">2026-03-09T13:06:54Z</dcterms:created>
  <dcterms:modified xsi:type="dcterms:W3CDTF">2026-03-10T18:36:36Z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2026-03-04T00:00:00Z</vt:filetime>
  </property>
  <property fmtid="{D5CDD505-2E9C-101B-9397-08002B2CF9AE}" pid="3" name="Creator">
    <vt:lpwstr>Keynote</vt:lpwstr>
  </property>
  <property fmtid="{D5CDD505-2E9C-101B-9397-08002B2CF9AE}" pid="4" name="LastSaved">
    <vt:filetime>2026-03-09T00:00:00Z</vt:filetime>
  </property>
  <property fmtid="{D5CDD505-2E9C-101B-9397-08002B2CF9AE}" pid="5" name="Producer">
    <vt:lpwstr>macOS Version 14.4.1 (Build 23E224) Quartz PDFContext</vt:lpwstr>
  </property>
</Properties>
</file>